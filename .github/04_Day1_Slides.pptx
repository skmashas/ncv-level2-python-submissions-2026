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58bc889-d731-524c-0498-39b1d737764c}">
          <p14:sldIdLst>
            <p14:sldId id="256"/>
            <p14:sldId id="257"/>
          </p14:sldIdLst>
        </p14:section>
        <p14:section name="2A Version control" id="{4ea7ce67-29a4-f32b-45e8-76badd0ede73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2B Git workflow" id="{ade11f24-510f-50b8-a1ef-31b220b3a276}">
          <p14:sldIdLst>
            <p14:sldId id="267"/>
            <p14:sldId id="268"/>
            <p14:sldId id="269"/>
            <p14:sldId id="270"/>
            <p14:sldId id="271"/>
          </p14:sldIdLst>
        </p14:section>
        <p14:section name="Practical" id="{ec84b272-c695-0e71-95ad-02b76ea9038b}">
          <p14:sldIdLst>
            <p14:sldId id="272"/>
            <p14:sldId id="273"/>
            <p14:sldId id="274"/>
            <p14:sldId id="275"/>
          </p14:sldIdLst>
        </p14:section>
        <p14:section name="Portfolio" id="{4f3b5296-a13c-fdd1-d2bc-f661e0a20659}">
          <p14:sldIdLst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2A-1. On screen while people settle.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2A-1. Point at the output column: by 17:00 everyone has three task folders on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2A-1. Fingers 1 to 5. Don't answer. The problem is the tool, not the learner.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2A-2. Photo album on the fridge. Timestamp and author are the two main components (LO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2A-3. Pairs, paper, 6 minutes. Answer goes into README in 2B.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2A-4. LO 5 and 7: VCS defined, and how it differs from generic revision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2A-4. LO 8 and 9. This week: main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2A-5. LO 11 and 12. Link to Deep Freeze: GitHub remembers, the clone brings the history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2A-6 and 2B-2.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2A-6. Show it live in the browser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2A-7. Two tracks. Pass the username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2B-1. A sealed box is not at Granny yet: commit is not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2B-3 and P-7. Leave up during independent submissions.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2B-3. Red = not in the box. Green = in the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2B-4. 60 seconds with neighbour. Good: 3 and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2B-5. 12 minutes, individual. Stage file by file. Never git add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P-1 and P-2. Apply to the welcome-program problem in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P-3. Overview only; Day 2 goes deep.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P-5. Thonny tour: editor top, shell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P-4 and P-6. Then break line 2 (delete the closing quote) and read the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D-3. Level 2 is the left column of every topic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D-6. Worked example: variables and assignment (diagnostic Q4).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D-7. 8 minutes. Honest, short, specific.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D-8. Thank everyone. Hand the username sheet to Bertie.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TSHWANE UNIVERSITY OF TECHNOLOGY  ·  Technical Programming SLP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7316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794"/>
                </a:solidFill>
              </a:rPr>
              <a:t>NCV Level 2  ·  Day 1  ·  TUT Technical Programming SLP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NCV LEVEL 2  ·  DAY 1  ·  MONDAY 19 OCTOBER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Version control, Git and your first Python program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Technical Programming SLP  ·  Lecturer Development Programme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Facilitator: Fredre Hattingh, Faculty of ICT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Today: four sessions, three tasks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1920240" cy="3246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18872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10:20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965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Version control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5146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Why we need it, what it is, getting Git and GitHub ready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794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 ready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42032" y="1051560"/>
            <a:ext cx="1920240" cy="3246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79192" y="118872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79192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11:40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679192" y="1965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Git workflow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679192" y="25146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Clone, add, commit, push your first task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2679192" y="3794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day-01/task1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26864" y="1051560"/>
            <a:ext cx="1920240" cy="3246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64024" y="118872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64024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13:30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764024" y="1965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First program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764024" y="25146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Computational thinking, Thonny, welcome.py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764024" y="3794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day-01/task2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711696" y="1051560"/>
            <a:ext cx="1920240" cy="3246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48856" y="11887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48856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15:20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848856" y="1965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Portfolio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848856" y="25146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Curriculum map, scaffold, baseline reflection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6848856" y="3794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day-01/task3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 learner hands in five files. Which one?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280160"/>
            <a:ext cx="1417320" cy="173736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60120" y="146304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945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calc.py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167128" y="1280160"/>
            <a:ext cx="1417320" cy="173736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24328" y="146304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24328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212848" y="21945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calc_new.py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831336" y="1280160"/>
            <a:ext cx="1417320" cy="173736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88536" y="146304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88536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877056" y="21945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calc_final.py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95544" y="1280160"/>
            <a:ext cx="1417320" cy="173736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52744" y="146304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52744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541264" y="21945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calc_FINAL2.py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59752" y="1280160"/>
            <a:ext cx="1417320" cy="173736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616952" y="146304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616952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205472" y="21945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calc_use_this.py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All five run.  All five are different.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D6D7C"/>
                </a:solidFill>
              </a:rPr>
              <a:t>The history is there — hidden in the file names.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Every revision answers: when? who? why?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3108960" cy="3200400"/>
          </a:xfrm>
          <a:prstGeom prst="roundRect">
            <a:avLst>
              <a:gd name="adj" fmla="val 1765"/>
            </a:avLst>
          </a:prstGeom>
          <a:solidFill>
            <a:srgbClr val="FFF7DC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A00"/>
                </a:solidFill>
              </a:rPr>
              <a:t>LIKE YOU ARE SIX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6459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 change your drawing on the fridge. Mom photographs it every time and writes a note on the back of each photo.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429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That is revision control.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023360" y="1143000"/>
            <a:ext cx="4663440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0624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Revision number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023360" y="1965960"/>
            <a:ext cx="4663440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06240" y="2121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Timestamp  (when)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2121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Saturday 10:00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023360" y="2788920"/>
            <a:ext cx="4663440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06240" y="2944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Author  (who)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2944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Lerato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023360" y="3611880"/>
            <a:ext cx="4663440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206240" y="3767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Message  (why)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3767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added a tree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Activity A: Thandi's folder chaos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023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Folder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Modified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Calculator/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 Aug 09:14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Calculator_new/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 Aug 16:40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Calculator (copy)/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 Oct 07:55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Calculator_final/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 Aug 11:02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Calculator_FINAL2/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 Aug 11:30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calc_use_this/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 Aug 08:21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846320" y="109728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84632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5486400" y="106984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Which folder is the latest correct version? What can't you tell from the names?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846320" y="205740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8463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0" y="202996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 every disadvantage of keeping versions in separate folders.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846320" y="301752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84632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299008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Design a better structure: one project, no ambiguity, history kept.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846320" y="3931920"/>
            <a:ext cx="38404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983480" y="40416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Pairs  ·  paper (Notes, Activity A)  ·  6 minutes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 Version Control System is a robot librarian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V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VCS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4173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Software that photographs ALL the files at once, every time you save a checkpoint, and never loses a photo.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19456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R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Repository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25146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project folder plus its complete history: the librarian's book.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29184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3291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Commit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36118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checkpoint: a snapshot + author + timestamp + message.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937760" y="1097280"/>
            <a:ext cx="374904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74920" y="11887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a VCS beats folders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074920" y="1600200"/>
            <a:ext cx="3474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•  Automatic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•  Covers the whole project, every file together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•  Compares any two versions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•  Restores any older version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•  Lets many people work on one project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Trunk (main) and branches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31520" y="2926080"/>
            <a:ext cx="7680960" cy="0"/>
          </a:xfrm>
          <a:prstGeom prst="line">
            <a:avLst/>
          </a:prstGeom>
          <a:noFill/>
          <a:ln w="63500">
            <a:solidFill>
              <a:schemeClr val="tx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274320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194560" y="274320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9456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0" y="274320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576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120640" y="274320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12064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583680" y="274320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863840" y="27432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6384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 flipV="1">
            <a:off x="2377440" y="1828800"/>
            <a:ext cx="914400" cy="1097280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91840" y="1828800"/>
            <a:ext cx="2926080" cy="0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0" y="1828800"/>
            <a:ext cx="914400" cy="1097280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310128" y="166420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10128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73168" y="166420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773168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3291840" y="1234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branch: try-new-marking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(trunk): the trusted version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merge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3813048"/>
            <a:ext cx="7955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Branches: safe experiments  ·  parallel work  ·  review before merging  ·  failed ideas thrown away without damage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Centralised versus distributed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393192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Centralised: one library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11680" y="16002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01168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+ history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85800" y="2971800"/>
            <a:ext cx="548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A879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H="1">
            <a:off x="960120" y="2423160"/>
            <a:ext cx="1463040" cy="548640"/>
          </a:xfrm>
          <a:prstGeom prst="line">
            <a:avLst/>
          </a:prstGeom>
          <a:noFill/>
          <a:ln w="15875">
            <a:solidFill>
              <a:srgbClr val="7A879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91640" y="3063240"/>
            <a:ext cx="548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A879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H="1">
            <a:off x="1965960" y="2423160"/>
            <a:ext cx="457200" cy="548640"/>
          </a:xfrm>
          <a:prstGeom prst="line">
            <a:avLst/>
          </a:prstGeom>
          <a:noFill/>
          <a:ln w="15875">
            <a:solidFill>
              <a:srgbClr val="7A879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97480" y="3063240"/>
            <a:ext cx="548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A879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23160" y="2423160"/>
            <a:ext cx="548640" cy="548640"/>
          </a:xfrm>
          <a:prstGeom prst="line">
            <a:avLst/>
          </a:prstGeom>
          <a:noFill/>
          <a:ln w="15875">
            <a:solidFill>
              <a:srgbClr val="7A879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11880" y="2971800"/>
            <a:ext cx="548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A879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23160" y="2423160"/>
            <a:ext cx="1463040" cy="548640"/>
          </a:xfrm>
          <a:prstGeom prst="line">
            <a:avLst/>
          </a:prstGeom>
          <a:noFill/>
          <a:ln w="15875">
            <a:solidFill>
              <a:srgbClr val="7A879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54880" y="1005840"/>
            <a:ext cx="393192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9204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Distributed: everyone has the book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309360" y="1554480"/>
            <a:ext cx="822960" cy="8229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0936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GitHub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+ history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92040" y="2926080"/>
            <a:ext cx="777240" cy="548640"/>
          </a:xfrm>
          <a:prstGeom prst="roundRect">
            <a:avLst>
              <a:gd name="adj" fmla="val 8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92040" y="29260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+ history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852160" y="3017520"/>
            <a:ext cx="777240" cy="548640"/>
          </a:xfrm>
          <a:prstGeom prst="roundRect">
            <a:avLst>
              <a:gd name="adj" fmla="val 8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852160" y="301752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+ history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858000" y="3017520"/>
            <a:ext cx="777240" cy="548640"/>
          </a:xfrm>
          <a:prstGeom prst="roundRect">
            <a:avLst>
              <a:gd name="adj" fmla="val 8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0" y="301752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+ history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818120" y="2926080"/>
            <a:ext cx="777240" cy="548640"/>
          </a:xfrm>
          <a:prstGeom prst="roundRect">
            <a:avLst>
              <a:gd name="adj" fmla="val 8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818120" y="29260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+ history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Git is distributed. GitHub is a place that keeps one shared copy. Tonight Deep Freeze wipes the PCs; tomorrow you clone and your full history comes back.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Fork once, clone daily, push every task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371600"/>
            <a:ext cx="2377440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417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fredre/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ncv-level2-python-submissions-2026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GitHub: the course repository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383280" y="1371600"/>
            <a:ext cx="237744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0" y="1417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YOUR-USERNAME/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ncv-level2-python-submissions-2026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GitHub: your fork (your evidence)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0" y="1371600"/>
            <a:ext cx="2377440" cy="118872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1417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ncv-level2-python-submissions-2026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Lab PC: your clone (wiped every night)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834640" y="1965960"/>
            <a:ext cx="45720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2697480" y="1554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A00"/>
                </a:solidFill>
              </a:rPr>
              <a:t>fork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852160" y="1783080"/>
            <a:ext cx="45720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5715000" y="1371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A00"/>
                </a:solidFill>
              </a:rPr>
              <a:t>clone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 flipH="1">
            <a:off x="5852160" y="2148840"/>
            <a:ext cx="45720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5715000" y="22128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push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42900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3538728"/>
            <a:ext cx="7955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Friday: one pull request from your fork to fredre's repository.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Never fork again. Never upload files through the GitHub website.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Our answer to the folder chaos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4572000" cy="3383280"/>
          </a:xfrm>
          <a:prstGeom prst="roundRect">
            <a:avLst>
              <a:gd name="adj" fmla="val 1622"/>
            </a:avLst>
          </a:prstGeom>
          <a:solidFill>
            <a:srgbClr val="0D1726"/>
          </a:solidFill>
          <a:ln w="12700">
            <a:solidFill>
              <a:srgbClr val="2B4A6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1124712"/>
            <a:ext cx="435254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ncv-level2-python-submissions-2026/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day-01/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task1/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task2/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task3/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day-02/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day-03/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day-04/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day-05/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303520" y="1051560"/>
            <a:ext cx="338328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40680" y="11430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rules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40680" y="1554480"/>
            <a:ext cx="3108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•  One folder per day, one per task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•  Lower case, no spaces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•  No personal names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•  Never final, new or copy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•  The history lives in Git, not in file names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Get ready: Git and your fork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987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PortableGit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307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D7C"/>
                </a:solidFill>
              </a:rPr>
              <a:t>Link on the setup card (or USB)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764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→ More info → Run anyway → OK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2084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D7C"/>
                </a:solidFill>
              </a:rPr>
              <a:t>Change nothing when it asks where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5603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2542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Downloads → PortableGit → git-bash.exe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862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D7C"/>
                </a:solidFill>
              </a:rPr>
              <a:t>The black window is Git Bash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3375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319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3639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D7C"/>
                </a:solidFill>
              </a:rPr>
              <a:t>git version 2.56.0.windows.2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120640" y="100584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57800" y="1097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Track A: you have an account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257800" y="15087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 Git first (1–4), then fork: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github.com/fredre/ncv-level2-python-submissions-2026 → Fork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120640" y="265176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257800" y="2743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Track B: no account yet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257800" y="31546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github.com/signup NOW (the e-mail code takes time), then do Git while you wait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 parcel to Granny: four places your work lives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1783080" cy="2011680"/>
          </a:xfrm>
          <a:prstGeom prst="roundRect">
            <a:avLst>
              <a:gd name="adj" fmla="val 410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325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Table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working folder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14600"/>
            <a:ext cx="160020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 in Thonny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286000" y="2194560"/>
            <a:ext cx="274320" cy="0"/>
          </a:xfrm>
          <a:prstGeom prst="line">
            <a:avLst/>
          </a:prstGeom>
          <a:noFill/>
          <a:ln w="31750">
            <a:solidFill>
              <a:srgbClr val="7A8794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06040" y="1188720"/>
            <a:ext cx="1783080" cy="2011680"/>
          </a:xfrm>
          <a:prstGeom prst="roundRect">
            <a:avLst>
              <a:gd name="adj" fmla="val 41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06040" y="1325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Box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60604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staging area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697480" y="2514600"/>
            <a:ext cx="160020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34840" y="2194560"/>
            <a:ext cx="274320" cy="0"/>
          </a:xfrm>
          <a:prstGeom prst="line">
            <a:avLst/>
          </a:prstGeom>
          <a:noFill/>
          <a:ln w="31750">
            <a:solidFill>
              <a:srgbClr val="7A8794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754880" y="1188720"/>
            <a:ext cx="1783080" cy="2011680"/>
          </a:xfrm>
          <a:prstGeom prst="roundRect">
            <a:avLst>
              <a:gd name="adj" fmla="val 410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4880" y="1325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Sealed + label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75488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commit + message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2514600"/>
            <a:ext cx="160020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194560"/>
            <a:ext cx="274320" cy="0"/>
          </a:xfrm>
          <a:prstGeom prst="line">
            <a:avLst/>
          </a:prstGeom>
          <a:noFill/>
          <a:ln w="31750">
            <a:solidFill>
              <a:srgbClr val="7A8794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903720" y="1188720"/>
            <a:ext cx="1783080" cy="2011680"/>
          </a:xfrm>
          <a:prstGeom prst="roundRect">
            <a:avLst>
              <a:gd name="adj" fmla="val 41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03720" y="1325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Post office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90372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GitHub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995160" y="2514600"/>
            <a:ext cx="160020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35204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4360" y="3630168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 status = look at the table and the box.   git log = the boxes already sent.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commit stays on this PC until you push — and Deep Freeze wipes this PC tonight.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Every task, every day: the same commands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5120640" cy="3429000"/>
          </a:xfrm>
          <a:prstGeom prst="roundRect">
            <a:avLst>
              <a:gd name="adj" fmla="val 1600"/>
            </a:avLst>
          </a:prstGeom>
          <a:solidFill>
            <a:srgbClr val="0D1726"/>
          </a:solidFill>
          <a:ln w="12700">
            <a:solidFill>
              <a:srgbClr val="2B4A6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1078992"/>
            <a:ext cx="4901184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8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day-01/task1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(save your files inside the folder)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day-01/task1/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--cached --name-only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"Day 1: Task 1 - add ..."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852160" y="1005840"/>
            <a:ext cx="2834640" cy="342900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89320" y="1097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Change only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89320" y="150876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day and task numbers, and the message.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 status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 push origin main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never change.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Then check your fork in the browser.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Reading git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5120640" cy="3429000"/>
          </a:xfrm>
          <a:prstGeom prst="roundRect">
            <a:avLst>
              <a:gd name="adj" fmla="val 1600"/>
            </a:avLst>
          </a:prstGeom>
          <a:solidFill>
            <a:srgbClr val="0D1726"/>
          </a:solidFill>
          <a:ln w="12700">
            <a:solidFill>
              <a:srgbClr val="2B4A6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097280"/>
            <a:ext cx="4892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
</a:t>
            </a:r>
            <a:pPr indent="0" marL="0">
              <a:buNone/>
            </a:pPr>
            <a:r>
              <a:rPr lang="en-US" sz="1250" dirty="0">
                <a:solidFill>
                  <a:srgbClr val="E8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 to be committed:
</a:t>
            </a:r>
            <a:pPr indent="0" marL="0">
              <a:buNone/>
            </a:pPr>
            <a:r>
              <a:rPr lang="en-US" sz="1250" dirty="0">
                <a:solidFill>
                  <a:srgbClr val="5E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 file:   day-01/task1/README.md
</a:t>
            </a:r>
            <a:pPr indent="0" marL="0">
              <a:buNone/>
            </a:pPr>
            <a:r>
              <a:rPr lang="en-US" sz="1250" dirty="0">
                <a:solidFill>
                  <a:srgbClr val="E8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 not staged for commit:
</a:t>
            </a:r>
            <a:pPr indent="0" marL="0">
              <a:buNone/>
            </a:pPr>
            <a:r>
              <a:rPr lang="en-US" sz="1250" dirty="0">
                <a:solidFill>
                  <a:srgbClr val="FF7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modified:   day-01/task1/hello.py
</a:t>
            </a:r>
            <a:pPr indent="0" marL="0">
              <a:buNone/>
            </a:pPr>
            <a:r>
              <a:rPr lang="en-US" sz="1250" dirty="0">
                <a:solidFill>
                  <a:srgbClr val="E8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Untracked files:
</a:t>
            </a:r>
            <a:pPr indent="0" marL="0">
              <a:buNone/>
            </a:pPr>
            <a:r>
              <a:rPr lang="en-US" sz="1250" dirty="0">
                <a:solidFill>
                  <a:srgbClr val="FF7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day-01/task1/notes_to_self.txt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1051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Green: staged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3533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in the box, goes into the next commit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18928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Red: modified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2194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changed since the last commit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273405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Red: untracked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30358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new: Git has never seen it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35753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D6D7C"/>
                </a:solidFill>
              </a:rPr>
              <a:t>Empty folder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38770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invisible: Git tracks files only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Which labels would Granny understand?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66928" y="1207008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600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46120" y="109728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55848" y="1207008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55848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1600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asdf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35040" y="109728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44768" y="1207008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44768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1600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1: Fix missing bracket in welcome.py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251460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" y="2624328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6928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3017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246120" y="251460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55848" y="2624328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355848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383280" y="3017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 to stuff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035040" y="251460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44768" y="2624328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44768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172200" y="3017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1: Add IPO chart for welcome program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Pattern:  Day N: Task N - verb + what      (Add, Fix, Update, Remove, Validate)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Activity B: make a mess, then clean it up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106984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second print line to hello.py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10698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modified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64208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172821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folder-chaos answer in README.md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17282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modified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32257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238658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notepad day-01/task1/notes_to_self.txt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6766560" y="23865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untracked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2980944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" y="304495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day-01/task1/hello.py day-01/task1/hello_backup.py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766560" y="30449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untracked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" y="3813048"/>
            <a:ext cx="7955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git status. Which files are evidence? Stage only those, check the box, write a truthful message, push, then rm the junk.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Computational thinking: four pillars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97280" y="114300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9728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Decomposition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28600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Tidy your room: toys, clothes, books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301752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Break the problem into smaller parts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82112" y="114300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82112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2633472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Pattern recognition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1760" y="228600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All socks go in the same drawer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651760" y="301752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Spot what repeats; reuse one solution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26864" y="100584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66944" y="11430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66944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4718304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Abstraction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736592" y="228600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A taxi route map: stops, not potholes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36592" y="301752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Keep what matters, leave out the rest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711696" y="100584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51776" y="114300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51776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6803136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Algorithm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821424" y="228600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The recipe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821424" y="301752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Precise, ordered, unambiguous steps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94360" y="404164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Session problem: display a learner's name, course level and a welcome message in a clear three-line format.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Problem to plan: Polya, PDLC and IPO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05840"/>
            <a:ext cx="1737360" cy="5029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Understand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240280" y="1252728"/>
            <a:ext cx="365760" cy="0"/>
          </a:xfrm>
          <a:prstGeom prst="line">
            <a:avLst/>
          </a:prstGeom>
          <a:noFill/>
          <a:ln w="31750">
            <a:solidFill>
              <a:srgbClr val="7A8794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2651760" y="1005840"/>
            <a:ext cx="1737360" cy="50292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Analyse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27632"/>
            <a:ext cx="1737360" cy="5029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Plan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240280" y="1874520"/>
            <a:ext cx="365760" cy="0"/>
          </a:xfrm>
          <a:prstGeom prst="line">
            <a:avLst/>
          </a:prstGeom>
          <a:noFill/>
          <a:ln w="31750">
            <a:solidFill>
              <a:srgbClr val="7A8794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2651760" y="1627632"/>
            <a:ext cx="1737360" cy="50292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Design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249424"/>
            <a:ext cx="1737360" cy="5029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Carry out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240280" y="2496312"/>
            <a:ext cx="365760" cy="0"/>
          </a:xfrm>
          <a:prstGeom prst="line">
            <a:avLst/>
          </a:prstGeom>
          <a:noFill/>
          <a:ln w="31750">
            <a:solidFill>
              <a:srgbClr val="7A8794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2651760" y="2249424"/>
            <a:ext cx="1737360" cy="50292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Code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871216"/>
            <a:ext cx="1737360" cy="5029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Look back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240280" y="3118104"/>
            <a:ext cx="365760" cy="0"/>
          </a:xfrm>
          <a:prstGeom prst="line">
            <a:avLst/>
          </a:prstGeom>
          <a:noFill/>
          <a:ln w="31750">
            <a:solidFill>
              <a:srgbClr val="7A8794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2651760" y="2871216"/>
            <a:ext cx="1737360" cy="50292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Test, maintain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D7C"/>
                </a:solidFill>
              </a:rPr>
              <a:t>Polya                            PDLC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05840"/>
          <a:ext cx="40233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Input</a:t>
                      </a:r>
                      <a:endParaRPr lang="en-US" sz="11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Processing</a:t>
                      </a:r>
                      <a:endParaRPr lang="en-US" sz="11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Output</a:t>
                      </a:r>
                      <a:endParaRPr lang="en-US" sz="11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None yet: values are fixed in the code</a:t>
                      </a:r>
                      <a:endParaRPr lang="en-US" sz="11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Display the three lines in order</a:t>
                      </a:r>
                      <a:endParaRPr lang="en-US" sz="11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Learner: ...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Course: NCV Level 2 ...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Welcome to programming!</a:t>
                      </a:r>
                      <a:endParaRPr lang="en-US" sz="11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4663440" y="301752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If the program asked for the name, which column changes?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Interpreter or compiler? Shell or IDE?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FF7DC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0972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A6A00"/>
                </a:solidFill>
              </a:rPr>
              <a:t>Compiler (C++, Level 3)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087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Translates the whole book first, then hands it over.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65176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FF7DC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27432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A6A00"/>
                </a:solidFill>
              </a:rPr>
              <a:t>Interpreter (Python)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1546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Translates one sentence at a time, while you speak.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00584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7A879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1005840"/>
            <a:ext cx="4023360" cy="29260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54880" y="10241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Thonny = IDE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1371600"/>
            <a:ext cx="38404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print("World")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2240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EDITOR: whole program, saved as a file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2606040"/>
            <a:ext cx="4023360" cy="0"/>
          </a:xfrm>
          <a:prstGeom prst="line">
            <a:avLst/>
          </a:prstGeom>
          <a:noFill/>
          <a:ln w="12700">
            <a:solidFill>
              <a:srgbClr val="7A879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54880" y="2697480"/>
            <a:ext cx="38404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2 + 3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3749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SHELL: one line, answer now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 talks to Python          $  (Git Bash) talks to Windows and Git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Session problem: one block becomes one line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3291840" cy="502920"/>
          </a:xfrm>
          <a:prstGeom prst="roundRect">
            <a:avLst>
              <a:gd name="adj" fmla="val 36364"/>
            </a:avLst>
          </a:prstGeom>
          <a:solidFill>
            <a:srgbClr val="FFBF00"/>
          </a:solidFill>
          <a:ln w="12700">
            <a:solidFill>
              <a:srgbClr val="CC99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15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when green flag clicked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3291840" cy="502920"/>
          </a:xfrm>
          <a:prstGeom prst="rect">
            <a:avLst/>
          </a:prstGeom>
          <a:solidFill>
            <a:srgbClr val="9966FF"/>
          </a:solidFill>
          <a:ln w="12700">
            <a:solidFill>
              <a:srgbClr val="774DC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673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say Learner: Thandi Mokoena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167128"/>
            <a:ext cx="3291840" cy="502920"/>
          </a:xfrm>
          <a:prstGeom prst="rect">
            <a:avLst/>
          </a:prstGeom>
          <a:solidFill>
            <a:srgbClr val="9966FF"/>
          </a:solidFill>
          <a:ln w="12700">
            <a:solidFill>
              <a:srgbClr val="774DC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say Course: NCV Level 2 ...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734056"/>
            <a:ext cx="3291840" cy="502920"/>
          </a:xfrm>
          <a:prstGeom prst="rect">
            <a:avLst/>
          </a:prstGeom>
          <a:solidFill>
            <a:srgbClr val="9966FF"/>
          </a:solidFill>
          <a:ln w="12700">
            <a:solidFill>
              <a:srgbClr val="774DC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2807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say Welcome to programming!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931920" y="2194560"/>
            <a:ext cx="5486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663440" y="1051560"/>
            <a:ext cx="4023360" cy="2194560"/>
          </a:xfrm>
          <a:prstGeom prst="roundRect">
            <a:avLst>
              <a:gd name="adj" fmla="val 2500"/>
            </a:avLst>
          </a:prstGeom>
          <a:solidFill>
            <a:srgbClr val="0D1726"/>
          </a:solidFill>
          <a:ln w="12700">
            <a:solidFill>
              <a:srgbClr val="2B4A6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73168" y="1124712"/>
            <a:ext cx="3803904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print("Learner: Thandi Mokoena")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print("Course: NCV Level 2 TP")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print("Welcome to programming!")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3337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Green flag = Run (F5).  Save in day-01/task2/welcome.py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3950208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Syntax error: grammar broken, nothing runs.   Runtime error: crashes on the line.   Logic error: runs, wrong answer.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Reading the Level 2 curriculum: this week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667512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Level 2 topic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Day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  Problem solving: computational thinking, PDLC, Polya, IPO, flowcharts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1, 2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  Scratch; compiler vs interpreter; shell vs IDE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  Programming tools: version control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(all week)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5–6  Introduction to Python; data types, variables, output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1–3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  Math, interactive input, constants and errors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8–9  Selection and repetition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10–11  Functions; arrays and lists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Your map: confidence 1–4 per topic  →  curriculum_map.md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 scaffold: from unplugged to Python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554480" y="1005840"/>
            <a:ext cx="71323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737360" y="11155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  Python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0" y="111556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score + 1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print(score)   + a trace table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005840" y="2057400"/>
            <a:ext cx="7680960" cy="9144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88720" y="216712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  Visual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3108960" y="2167128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Scratch: set score to 0, change score by 1, variable shown on stage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10896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21868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  Unplugged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2560320" y="3218688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Shoeboxes labelled a, b, score. Copy the card from a to b; change a; b is still 2.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Pairs: choose ONE difficult Level 2 outcome  →  three rungs in baseline_reflection.md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Baseline reflection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26060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43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3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0116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strengths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you bring to teaching Level 2 programming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46120" y="1051560"/>
            <a:ext cx="26060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46120" y="1143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3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3246120" y="20116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gaps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you want to close this week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35040" y="1051560"/>
            <a:ext cx="26060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35040" y="1143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2"/>
                </a:solidFill>
              </a:rPr>
              <a:t>1</a:t>
            </a:r>
            <a:endParaRPr lang="en-US" sz="48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20116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goal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specific, checkable, linked to a Level 2 outcome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35661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7DC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3675888"/>
            <a:ext cx="7955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Example goal: "By Friday I can trace a while loop with a counter and an accumulator in a trace table, without running the code (Topic 9)."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Before you leave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4023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1.  git status  →  working tree clean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2.  Check day-01/task1, task2, task3 on your fork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3.  Sign out of GitHub in the browser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4.  Close Git Bash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365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Tomorrow at 08:00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0584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Deep Freeze wipes the PC tonight. Card 3: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1.  PortableGit → git-bash.exe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2.  git config  name and e-mail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3.  git clone  your fork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4.  git status  +  git log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Your whole history comes back.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T SLP">
  <a:themeElements>
    <a:clrScheme name="TUT SLP">
      <a:dk1>
        <a:srgbClr val="1B2A41"/>
      </a:dk1>
      <a:lt1>
        <a:srgbClr val="FFFFFF"/>
      </a:lt1>
      <a:dk2>
        <a:srgbClr val="005596"/>
      </a:dk2>
      <a:lt2>
        <a:srgbClr val="EEF5FA"/>
      </a:lt2>
      <a:accent1>
        <a:srgbClr val="FDB515"/>
      </a:accent1>
      <a:accent2>
        <a:srgbClr val="C3092B"/>
      </a:accent2>
      <a:accent3>
        <a:srgbClr val="1C8A4A"/>
      </a:accent3>
      <a:accent4>
        <a:srgbClr val="6B3FC4"/>
      </a:accent4>
      <a:accent5>
        <a:srgbClr val="C2410C"/>
      </a:accent5>
      <a:accent6>
        <a:srgbClr val="DCE8F5"/>
      </a:accent6>
      <a:hlink>
        <a:srgbClr val="005596"/>
      </a:hlink>
      <a:folHlink>
        <a:srgbClr val="6B3FC4"/>
      </a:folHlink>
    </a:clrScheme>
    <a:fontScheme name="TUT SL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NCV L2 Day 1</dc:title>
  <dc:subject>PptxGenJS Presentation</dc:subject>
  <dc:creator>Fredre Hattingh</dc:creator>
  <cp:lastModifiedBy>Fredre Hattingh</cp:lastModifiedBy>
  <cp:revision>1</cp:revision>
  <dcterms:created xsi:type="dcterms:W3CDTF">2026-10-18T21:40:52Z</dcterms:created>
  <dcterms:modified xsi:type="dcterms:W3CDTF">2026-10-18T21:40:52Z</dcterms:modified>
</cp:coreProperties>
</file>